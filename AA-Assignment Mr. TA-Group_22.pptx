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3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embeddedFontLst>
    <p:embeddedFont>
      <p:font typeface="Crimson Text"/>
      <p:regular r:id="rId17"/>
      <p:bold r:id="rId18"/>
      <p:italic r:id="rId19"/>
      <p:boldItalic r:id="rId20"/>
    </p:embeddedFont>
    <p:embeddedFont>
      <p:font typeface="Lato" panose="020F0502020204030203" pitchFamily="34" charset="0"/>
      <p:regular r:id="rId21"/>
      <p:bold r:id="rId22"/>
      <p:italic r:id="rId23"/>
      <p:boldItalic r:id="rId24"/>
    </p:embeddedFont>
    <p:embeddedFont>
      <p:font typeface="Montserrat" panose="00000500000000000000" pitchFamily="2" charset="0"/>
      <p:regular r:id="rId25"/>
      <p:bold r:id="rId26"/>
      <p:italic r:id="rId27"/>
      <p:boldItalic r:id="rId28"/>
    </p:embeddedFont>
    <p:embeddedFont>
      <p:font typeface="Vidaloka"/>
      <p:regular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B83D48C-1958-4FCD-9EA3-2B004F657C73}">
  <a:tblStyle styleId="{AB83D48C-1958-4FCD-9EA3-2B004F657C7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9" d="100"/>
          <a:sy n="139" d="100"/>
        </p:scale>
        <p:origin x="80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1796286aa5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31796286aa5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1796286aa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1796286aa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105aad17dc0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105aad17dc0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2fc752bb527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" name="Google Shape;534;g2fc752bb527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31796286aa5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g31796286aa5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cc7554a049_0_3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7" name="Google Shape;547;gcc7554a049_0_3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2fc752bb527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3" name="Google Shape;553;g2fc752bb527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31796286aa5_1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9" name="Google Shape;559;g31796286aa5_1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31796286aa5_1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5" name="Google Shape;565;g31796286aa5_1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2fc752bb527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" name="Google Shape;571;g2fc752bb527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2fc752bb527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8" name="Google Shape;578;g2fc752bb527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31796286aa5_1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4" name="Google Shape;584;g31796286aa5_1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cd8a80d6bc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1" name="Google Shape;591;gcd8a80d6bc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039975" y="1324500"/>
            <a:ext cx="70641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040000" y="3377100"/>
            <a:ext cx="7064100" cy="44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12;p2"/>
          <p:cNvCxnSpPr/>
          <p:nvPr/>
        </p:nvCxnSpPr>
        <p:spPr>
          <a:xfrm flipH="1">
            <a:off x="-257975" y="-72550"/>
            <a:ext cx="3047400" cy="1346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Google Shape;13;p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" name="Google Shape;14;p2"/>
          <p:cNvCxnSpPr/>
          <p:nvPr/>
        </p:nvCxnSpPr>
        <p:spPr>
          <a:xfrm flipH="1">
            <a:off x="6467450" y="3935375"/>
            <a:ext cx="3047400" cy="1346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4711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713250" y="1272925"/>
            <a:ext cx="7717500" cy="32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9pPr>
          </a:lstStyle>
          <a:p>
            <a:endParaRPr/>
          </a:p>
        </p:txBody>
      </p:sp>
      <p:cxnSp>
        <p:nvCxnSpPr>
          <p:cNvPr id="26" name="Google Shape;26;p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" name="Google Shape;27;p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" name="Google Shape;28;p4"/>
          <p:cNvCxnSpPr/>
          <p:nvPr/>
        </p:nvCxnSpPr>
        <p:spPr>
          <a:xfrm>
            <a:off x="6884900" y="-113600"/>
            <a:ext cx="2565600" cy="1306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40" name="Google Shape;40;p6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" name="Google Shape;41;p6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3583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subTitle" idx="1"/>
          </p:nvPr>
        </p:nvSpPr>
        <p:spPr>
          <a:xfrm>
            <a:off x="5001000" y="1942925"/>
            <a:ext cx="2486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subTitle" idx="2"/>
          </p:nvPr>
        </p:nvSpPr>
        <p:spPr>
          <a:xfrm>
            <a:off x="5001000" y="2255100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subTitle" idx="3"/>
          </p:nvPr>
        </p:nvSpPr>
        <p:spPr>
          <a:xfrm>
            <a:off x="1655200" y="1942925"/>
            <a:ext cx="2486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subTitle" idx="4"/>
          </p:nvPr>
        </p:nvSpPr>
        <p:spPr>
          <a:xfrm>
            <a:off x="1655200" y="2255100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ubTitle" idx="5"/>
          </p:nvPr>
        </p:nvSpPr>
        <p:spPr>
          <a:xfrm>
            <a:off x="5001000" y="3723950"/>
            <a:ext cx="2486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subTitle" idx="6"/>
          </p:nvPr>
        </p:nvSpPr>
        <p:spPr>
          <a:xfrm>
            <a:off x="5001000" y="4036125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subTitle" idx="7"/>
          </p:nvPr>
        </p:nvSpPr>
        <p:spPr>
          <a:xfrm>
            <a:off x="1655200" y="3723950"/>
            <a:ext cx="2486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subTitle" idx="8"/>
          </p:nvPr>
        </p:nvSpPr>
        <p:spPr>
          <a:xfrm>
            <a:off x="1655250" y="4036125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title" idx="9" hasCustomPrompt="1"/>
          </p:nvPr>
        </p:nvSpPr>
        <p:spPr>
          <a:xfrm>
            <a:off x="2378650" y="1303588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4" name="Google Shape;84;p13"/>
          <p:cNvSpPr txBox="1">
            <a:spLocks noGrp="1"/>
          </p:cNvSpPr>
          <p:nvPr>
            <p:ph type="title" idx="13" hasCustomPrompt="1"/>
          </p:nvPr>
        </p:nvSpPr>
        <p:spPr>
          <a:xfrm>
            <a:off x="5724450" y="1303588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5" name="Google Shape;85;p13"/>
          <p:cNvSpPr txBox="1">
            <a:spLocks noGrp="1"/>
          </p:cNvSpPr>
          <p:nvPr>
            <p:ph type="title" idx="14" hasCustomPrompt="1"/>
          </p:nvPr>
        </p:nvSpPr>
        <p:spPr>
          <a:xfrm>
            <a:off x="2378700" y="3082738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6" name="Google Shape;86;p13"/>
          <p:cNvSpPr txBox="1">
            <a:spLocks noGrp="1"/>
          </p:cNvSpPr>
          <p:nvPr>
            <p:ph type="title" idx="15" hasCustomPrompt="1"/>
          </p:nvPr>
        </p:nvSpPr>
        <p:spPr>
          <a:xfrm>
            <a:off x="5724450" y="3082738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cxnSp>
        <p:nvCxnSpPr>
          <p:cNvPr id="87" name="Google Shape;87;p1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" name="Google Shape;88;p1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1">
  <p:cSld name="CUSTOM_11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>
            <a:spLocks noGrp="1"/>
          </p:cNvSpPr>
          <p:nvPr>
            <p:ph type="title"/>
          </p:nvPr>
        </p:nvSpPr>
        <p:spPr>
          <a:xfrm>
            <a:off x="720000" y="1677218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1" name="Google Shape;91;p14"/>
          <p:cNvSpPr txBox="1">
            <a:spLocks noGrp="1"/>
          </p:cNvSpPr>
          <p:nvPr>
            <p:ph type="title" idx="2" hasCustomPrompt="1"/>
          </p:nvPr>
        </p:nvSpPr>
        <p:spPr>
          <a:xfrm>
            <a:off x="1482600" y="1095325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92" name="Google Shape;92;p14"/>
          <p:cNvSpPr txBox="1">
            <a:spLocks noGrp="1"/>
          </p:cNvSpPr>
          <p:nvPr>
            <p:ph type="subTitle" idx="1"/>
          </p:nvPr>
        </p:nvSpPr>
        <p:spPr>
          <a:xfrm>
            <a:off x="720000" y="2081199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4"/>
          <p:cNvSpPr txBox="1">
            <a:spLocks noGrp="1"/>
          </p:cNvSpPr>
          <p:nvPr>
            <p:ph type="title" idx="3"/>
          </p:nvPr>
        </p:nvSpPr>
        <p:spPr>
          <a:xfrm>
            <a:off x="3403800" y="1677218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4" name="Google Shape;94;p14"/>
          <p:cNvSpPr txBox="1">
            <a:spLocks noGrp="1"/>
          </p:cNvSpPr>
          <p:nvPr>
            <p:ph type="title" idx="4" hasCustomPrompt="1"/>
          </p:nvPr>
        </p:nvSpPr>
        <p:spPr>
          <a:xfrm>
            <a:off x="4166400" y="1095325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95" name="Google Shape;95;p14"/>
          <p:cNvSpPr txBox="1">
            <a:spLocks noGrp="1"/>
          </p:cNvSpPr>
          <p:nvPr>
            <p:ph type="subTitle" idx="5"/>
          </p:nvPr>
        </p:nvSpPr>
        <p:spPr>
          <a:xfrm>
            <a:off x="3403800" y="2081208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4"/>
          <p:cNvSpPr txBox="1">
            <a:spLocks noGrp="1"/>
          </p:cNvSpPr>
          <p:nvPr>
            <p:ph type="title" idx="6"/>
          </p:nvPr>
        </p:nvSpPr>
        <p:spPr>
          <a:xfrm>
            <a:off x="6087600" y="1677218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7" name="Google Shape;97;p14"/>
          <p:cNvSpPr txBox="1">
            <a:spLocks noGrp="1"/>
          </p:cNvSpPr>
          <p:nvPr>
            <p:ph type="title" idx="7" hasCustomPrompt="1"/>
          </p:nvPr>
        </p:nvSpPr>
        <p:spPr>
          <a:xfrm>
            <a:off x="6850200" y="1095325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98" name="Google Shape;98;p14"/>
          <p:cNvSpPr txBox="1">
            <a:spLocks noGrp="1"/>
          </p:cNvSpPr>
          <p:nvPr>
            <p:ph type="subTitle" idx="8"/>
          </p:nvPr>
        </p:nvSpPr>
        <p:spPr>
          <a:xfrm>
            <a:off x="6087600" y="2081208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title" idx="9"/>
          </p:nvPr>
        </p:nvSpPr>
        <p:spPr>
          <a:xfrm>
            <a:off x="720000" y="3313579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0" name="Google Shape;100;p14"/>
          <p:cNvSpPr txBox="1">
            <a:spLocks noGrp="1"/>
          </p:cNvSpPr>
          <p:nvPr>
            <p:ph type="title" idx="13" hasCustomPrompt="1"/>
          </p:nvPr>
        </p:nvSpPr>
        <p:spPr>
          <a:xfrm>
            <a:off x="1482600" y="2714087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101" name="Google Shape;101;p14"/>
          <p:cNvSpPr txBox="1">
            <a:spLocks noGrp="1"/>
          </p:cNvSpPr>
          <p:nvPr>
            <p:ph type="subTitle" idx="14"/>
          </p:nvPr>
        </p:nvSpPr>
        <p:spPr>
          <a:xfrm>
            <a:off x="720000" y="3705863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4"/>
          <p:cNvSpPr txBox="1">
            <a:spLocks noGrp="1"/>
          </p:cNvSpPr>
          <p:nvPr>
            <p:ph type="title" idx="15"/>
          </p:nvPr>
        </p:nvSpPr>
        <p:spPr>
          <a:xfrm>
            <a:off x="3403800" y="3313579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3" name="Google Shape;103;p14"/>
          <p:cNvSpPr txBox="1">
            <a:spLocks noGrp="1"/>
          </p:cNvSpPr>
          <p:nvPr>
            <p:ph type="title" idx="16" hasCustomPrompt="1"/>
          </p:nvPr>
        </p:nvSpPr>
        <p:spPr>
          <a:xfrm>
            <a:off x="4166400" y="2714087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104" name="Google Shape;104;p14"/>
          <p:cNvSpPr txBox="1">
            <a:spLocks noGrp="1"/>
          </p:cNvSpPr>
          <p:nvPr>
            <p:ph type="subTitle" idx="17"/>
          </p:nvPr>
        </p:nvSpPr>
        <p:spPr>
          <a:xfrm>
            <a:off x="3403800" y="3705863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4"/>
          <p:cNvSpPr txBox="1">
            <a:spLocks noGrp="1"/>
          </p:cNvSpPr>
          <p:nvPr>
            <p:ph type="title" idx="18"/>
          </p:nvPr>
        </p:nvSpPr>
        <p:spPr>
          <a:xfrm>
            <a:off x="6087600" y="3313579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6" name="Google Shape;106;p14"/>
          <p:cNvSpPr txBox="1">
            <a:spLocks noGrp="1"/>
          </p:cNvSpPr>
          <p:nvPr>
            <p:ph type="title" idx="19" hasCustomPrompt="1"/>
          </p:nvPr>
        </p:nvSpPr>
        <p:spPr>
          <a:xfrm>
            <a:off x="6850200" y="2714087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107" name="Google Shape;107;p14"/>
          <p:cNvSpPr txBox="1">
            <a:spLocks noGrp="1"/>
          </p:cNvSpPr>
          <p:nvPr>
            <p:ph type="subTitle" idx="20"/>
          </p:nvPr>
        </p:nvSpPr>
        <p:spPr>
          <a:xfrm>
            <a:off x="6087600" y="3705863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4"/>
          <p:cNvSpPr txBox="1">
            <a:spLocks noGrp="1"/>
          </p:cNvSpPr>
          <p:nvPr>
            <p:ph type="title" idx="21"/>
          </p:nvPr>
        </p:nvSpPr>
        <p:spPr>
          <a:xfrm>
            <a:off x="2332400" y="445025"/>
            <a:ext cx="4479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109" name="Google Shape;109;p1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0" name="Google Shape;110;p1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1" name="Google Shape;111;p14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2" name="Google Shape;112;p14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2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2410500" y="2808253"/>
            <a:ext cx="4323000" cy="49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9pPr>
          </a:lstStyle>
          <a:p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subTitle" idx="1"/>
          </p:nvPr>
        </p:nvSpPr>
        <p:spPr>
          <a:xfrm>
            <a:off x="1842900" y="1661963"/>
            <a:ext cx="5458200" cy="9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16" name="Google Shape;116;p15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7" name="Google Shape;117;p15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0"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0" name="Google Shape;450;p50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1" name="Google Shape;451;p50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0_1"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3" name="Google Shape;453;p51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4" name="Google Shape;454;p51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5" name="Google Shape;455;p51"/>
          <p:cNvCxnSpPr/>
          <p:nvPr/>
        </p:nvCxnSpPr>
        <p:spPr>
          <a:xfrm>
            <a:off x="7434175" y="-125600"/>
            <a:ext cx="1993200" cy="1330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6" name="Google Shape;456;p51"/>
          <p:cNvCxnSpPr/>
          <p:nvPr/>
        </p:nvCxnSpPr>
        <p:spPr>
          <a:xfrm>
            <a:off x="-147275" y="3943475"/>
            <a:ext cx="1993200" cy="1330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0_1_1"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8" name="Google Shape;458;p5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9" name="Google Shape;459;p5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0" name="Google Shape;460;p52"/>
          <p:cNvCxnSpPr/>
          <p:nvPr/>
        </p:nvCxnSpPr>
        <p:spPr>
          <a:xfrm flipH="1">
            <a:off x="6772150" y="3663450"/>
            <a:ext cx="2823300" cy="1633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30"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2" name="Google Shape;462;p5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3" name="Google Shape;463;p5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4" name="Google Shape;464;p53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5" name="Google Shape;465;p53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6" name="Google Shape;466;p53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7" name="Google Shape;467;p53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Vidaloka"/>
              <a:buNone/>
              <a:defRPr sz="30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5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2" r:id="rId3"/>
    <p:sldLayoutId id="2147483658" r:id="rId4"/>
    <p:sldLayoutId id="2147483659" r:id="rId5"/>
    <p:sldLayoutId id="2147483660" r:id="rId6"/>
    <p:sldLayoutId id="2147483661" r:id="rId7"/>
    <p:sldLayoutId id="2147483696" r:id="rId8"/>
    <p:sldLayoutId id="2147483697" r:id="rId9"/>
    <p:sldLayoutId id="2147483698" r:id="rId10"/>
    <p:sldLayoutId id="214748369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59"/>
          <p:cNvSpPr txBox="1">
            <a:spLocks noGrp="1"/>
          </p:cNvSpPr>
          <p:nvPr>
            <p:ph type="ctrTitle"/>
          </p:nvPr>
        </p:nvSpPr>
        <p:spPr>
          <a:xfrm>
            <a:off x="191400" y="1561625"/>
            <a:ext cx="8761200" cy="114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800"/>
              <a:t>Advanced Algorithms  </a:t>
            </a:r>
            <a:r>
              <a:rPr lang="en"/>
              <a:t>Assignment</a:t>
            </a:r>
            <a:endParaRPr/>
          </a:p>
        </p:txBody>
      </p:sp>
      <p:sp>
        <p:nvSpPr>
          <p:cNvPr id="483" name="Google Shape;483;p59"/>
          <p:cNvSpPr txBox="1">
            <a:spLocks noGrp="1"/>
          </p:cNvSpPr>
          <p:nvPr>
            <p:ph type="title" idx="4294967295"/>
          </p:nvPr>
        </p:nvSpPr>
        <p:spPr>
          <a:xfrm>
            <a:off x="4914225" y="2843775"/>
            <a:ext cx="3943800" cy="174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Group 22: </a:t>
            </a:r>
            <a:br>
              <a:rPr lang="en" sz="1400"/>
            </a:br>
            <a:r>
              <a:rPr lang="en" sz="1400"/>
              <a:t>1. Duong Gia An - 2470293</a:t>
            </a:r>
            <a:endParaRPr sz="1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2. Trinh Son Lam - 2470287</a:t>
            </a:r>
            <a:endParaRPr sz="1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3. Nguyen Thi Thu An - 2470315</a:t>
            </a:r>
            <a:endParaRPr sz="1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4. Nguyen Thanh Nhan - 2012522</a:t>
            </a:r>
            <a:endParaRPr sz="1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5. Vuong Minh Toan - 2491057</a:t>
            </a:r>
            <a:endParaRPr sz="1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6. Pham Le Trong Bang - 2110811</a:t>
            </a:r>
            <a:endParaRPr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60"/>
          <p:cNvSpPr txBox="1">
            <a:spLocks noGrp="1"/>
          </p:cNvSpPr>
          <p:nvPr>
            <p:ph type="title"/>
          </p:nvPr>
        </p:nvSpPr>
        <p:spPr>
          <a:xfrm>
            <a:off x="713250" y="1624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Member Contribution</a:t>
            </a:r>
            <a:endParaRPr/>
          </a:p>
        </p:txBody>
      </p:sp>
      <p:graphicFrame>
        <p:nvGraphicFramePr>
          <p:cNvPr id="489" name="Google Shape;489;p60"/>
          <p:cNvGraphicFramePr/>
          <p:nvPr/>
        </p:nvGraphicFramePr>
        <p:xfrm>
          <a:off x="279150" y="804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{AB83D48C-1958-4FCD-9EA3-2B004F657C73}</a:tableStyleId>
              </a:tblPr>
              <a:tblGrid>
                <a:gridCol w="29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5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02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6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  <a:latin typeface="Vidaloka"/>
                          <a:ea typeface="Vidaloka"/>
                          <a:cs typeface="Vidaloka"/>
                          <a:sym typeface="Vidaloka"/>
                        </a:rPr>
                        <a:t>Name</a:t>
                      </a:r>
                      <a:endParaRPr sz="2000">
                        <a:solidFill>
                          <a:schemeClr val="dk1"/>
                        </a:solidFill>
                        <a:latin typeface="Vidaloka"/>
                        <a:ea typeface="Vidaloka"/>
                        <a:cs typeface="Vidaloka"/>
                        <a:sym typeface="Vidalok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  <a:latin typeface="Vidaloka"/>
                          <a:ea typeface="Vidaloka"/>
                          <a:cs typeface="Vidaloka"/>
                          <a:sym typeface="Vidaloka"/>
                        </a:rPr>
                        <a:t>Contribution</a:t>
                      </a:r>
                      <a:endParaRPr sz="2000">
                        <a:solidFill>
                          <a:schemeClr val="dk1"/>
                        </a:solidFill>
                        <a:latin typeface="Vidaloka"/>
                        <a:ea typeface="Vidaloka"/>
                        <a:cs typeface="Vidaloka"/>
                        <a:sym typeface="Vidaloka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  <a:latin typeface="Vidaloka"/>
                          <a:ea typeface="Vidaloka"/>
                          <a:cs typeface="Vidaloka"/>
                          <a:sym typeface="Vidaloka"/>
                        </a:rPr>
                        <a:t>Percentage</a:t>
                      </a:r>
                      <a:endParaRPr sz="2000">
                        <a:solidFill>
                          <a:schemeClr val="dk1"/>
                        </a:solidFill>
                        <a:latin typeface="Vidaloka"/>
                        <a:ea typeface="Vidaloka"/>
                        <a:cs typeface="Vidaloka"/>
                        <a:sym typeface="Vidaloka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2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Duong Gia An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Team Lead 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17.5%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2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Trinh Son Lam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Idea - Implement - Slide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17.5%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2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Nguyen Thi Thu An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Idea - Implement- Slide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17.5%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2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Nguyen Thanh Nhan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Idea - Implement - Slide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17.5%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42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Pham Toan Vuong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Idea - Implement - Slide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17.5%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42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Pham Le Trong Bang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Idea 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12.5%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Timeline (week)</a:t>
            </a:r>
            <a:endParaRPr/>
          </a:p>
        </p:txBody>
      </p:sp>
      <p:sp>
        <p:nvSpPr>
          <p:cNvPr id="495" name="Google Shape;495;p61"/>
          <p:cNvSpPr txBox="1"/>
          <p:nvPr/>
        </p:nvSpPr>
        <p:spPr>
          <a:xfrm>
            <a:off x="5735850" y="1883200"/>
            <a:ext cx="1722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List error test case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6" name="Google Shape;496;p61"/>
          <p:cNvSpPr txBox="1"/>
          <p:nvPr/>
        </p:nvSpPr>
        <p:spPr>
          <a:xfrm>
            <a:off x="1405650" y="1880625"/>
            <a:ext cx="2158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Choose algorithm and coding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7" name="Google Shape;497;p61"/>
          <p:cNvSpPr txBox="1"/>
          <p:nvPr/>
        </p:nvSpPr>
        <p:spPr>
          <a:xfrm>
            <a:off x="3728325" y="3506650"/>
            <a:ext cx="20802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rPr>
              <a:t>Improvement</a:t>
            </a:r>
            <a:endParaRPr sz="2400">
              <a:solidFill>
                <a:schemeClr val="dk1"/>
              </a:solidFill>
              <a:latin typeface="Vidaloka"/>
              <a:ea typeface="Vidaloka"/>
              <a:cs typeface="Vidaloka"/>
              <a:sym typeface="Vidaloka"/>
            </a:endParaRPr>
          </a:p>
        </p:txBody>
      </p:sp>
      <p:sp>
        <p:nvSpPr>
          <p:cNvPr id="498" name="Google Shape;498;p61"/>
          <p:cNvSpPr txBox="1"/>
          <p:nvPr/>
        </p:nvSpPr>
        <p:spPr>
          <a:xfrm>
            <a:off x="3337500" y="3849225"/>
            <a:ext cx="32994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Accuracy in processing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Average Time run 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9" name="Google Shape;499;p61"/>
          <p:cNvSpPr txBox="1"/>
          <p:nvPr/>
        </p:nvSpPr>
        <p:spPr>
          <a:xfrm>
            <a:off x="-99450" y="3509225"/>
            <a:ext cx="17229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rPr>
              <a:t>      Idea	</a:t>
            </a:r>
            <a:endParaRPr sz="2400">
              <a:solidFill>
                <a:schemeClr val="dk1"/>
              </a:solidFill>
              <a:latin typeface="Vidaloka"/>
              <a:ea typeface="Vidaloka"/>
              <a:cs typeface="Vidaloka"/>
              <a:sym typeface="Vidaloka"/>
            </a:endParaRPr>
          </a:p>
        </p:txBody>
      </p:sp>
      <p:sp>
        <p:nvSpPr>
          <p:cNvPr id="500" name="Google Shape;500;p61"/>
          <p:cNvSpPr txBox="1"/>
          <p:nvPr/>
        </p:nvSpPr>
        <p:spPr>
          <a:xfrm>
            <a:off x="110175" y="3863525"/>
            <a:ext cx="1722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Define problem and solution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501" name="Google Shape;501;p61"/>
          <p:cNvGrpSpPr/>
          <p:nvPr/>
        </p:nvGrpSpPr>
        <p:grpSpPr>
          <a:xfrm>
            <a:off x="110176" y="2647525"/>
            <a:ext cx="7013349" cy="667500"/>
            <a:chOff x="1061626" y="2700425"/>
            <a:chExt cx="7013349" cy="667500"/>
          </a:xfrm>
        </p:grpSpPr>
        <p:cxnSp>
          <p:nvCxnSpPr>
            <p:cNvPr id="502" name="Google Shape;502;p61"/>
            <p:cNvCxnSpPr>
              <a:stCxn id="503" idx="3"/>
              <a:endCxn id="504" idx="1"/>
            </p:cNvCxnSpPr>
            <p:nvPr/>
          </p:nvCxnSpPr>
          <p:spPr>
            <a:xfrm>
              <a:off x="2072626" y="3034175"/>
              <a:ext cx="1006800" cy="0"/>
            </a:xfrm>
            <a:prstGeom prst="straightConnector1">
              <a:avLst/>
            </a:prstGeom>
            <a:noFill/>
            <a:ln w="2857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05" name="Google Shape;505;p61"/>
            <p:cNvCxnSpPr>
              <a:stCxn id="504" idx="3"/>
              <a:endCxn id="506" idx="1"/>
            </p:cNvCxnSpPr>
            <p:nvPr/>
          </p:nvCxnSpPr>
          <p:spPr>
            <a:xfrm>
              <a:off x="4061175" y="3034175"/>
              <a:ext cx="1021500" cy="0"/>
            </a:xfrm>
            <a:prstGeom prst="straightConnector1">
              <a:avLst/>
            </a:prstGeom>
            <a:noFill/>
            <a:ln w="2857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07" name="Google Shape;507;p61"/>
            <p:cNvCxnSpPr>
              <a:stCxn id="506" idx="3"/>
              <a:endCxn id="508" idx="1"/>
            </p:cNvCxnSpPr>
            <p:nvPr/>
          </p:nvCxnSpPr>
          <p:spPr>
            <a:xfrm>
              <a:off x="6064400" y="3034175"/>
              <a:ext cx="1014300" cy="0"/>
            </a:xfrm>
            <a:prstGeom prst="straightConnector1">
              <a:avLst/>
            </a:prstGeom>
            <a:noFill/>
            <a:ln w="2857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03" name="Google Shape;503;p61"/>
            <p:cNvSpPr txBox="1"/>
            <p:nvPr/>
          </p:nvSpPr>
          <p:spPr>
            <a:xfrm>
              <a:off x="1061626" y="2700425"/>
              <a:ext cx="1011000" cy="667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500">
                  <a:solidFill>
                    <a:schemeClr val="accent1"/>
                  </a:solidFill>
                  <a:latin typeface="Vidaloka"/>
                  <a:ea typeface="Vidaloka"/>
                  <a:cs typeface="Vidaloka"/>
                  <a:sym typeface="Vidaloka"/>
                </a:rPr>
                <a:t>01</a:t>
              </a:r>
              <a:endParaRPr sz="35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endParaRPr>
            </a:p>
          </p:txBody>
        </p:sp>
        <p:sp>
          <p:nvSpPr>
            <p:cNvPr id="504" name="Google Shape;504;p61"/>
            <p:cNvSpPr txBox="1"/>
            <p:nvPr/>
          </p:nvSpPr>
          <p:spPr>
            <a:xfrm>
              <a:off x="3079575" y="2700425"/>
              <a:ext cx="981600" cy="667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500">
                  <a:solidFill>
                    <a:schemeClr val="accent1"/>
                  </a:solidFill>
                  <a:latin typeface="Vidaloka"/>
                  <a:ea typeface="Vidaloka"/>
                  <a:cs typeface="Vidaloka"/>
                  <a:sym typeface="Vidaloka"/>
                </a:rPr>
                <a:t>02</a:t>
              </a:r>
              <a:endParaRPr sz="35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endParaRPr>
            </a:p>
          </p:txBody>
        </p:sp>
        <p:sp>
          <p:nvSpPr>
            <p:cNvPr id="506" name="Google Shape;506;p61"/>
            <p:cNvSpPr txBox="1"/>
            <p:nvPr/>
          </p:nvSpPr>
          <p:spPr>
            <a:xfrm>
              <a:off x="5082800" y="2700425"/>
              <a:ext cx="981600" cy="667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500">
                  <a:solidFill>
                    <a:schemeClr val="accent1"/>
                  </a:solidFill>
                  <a:latin typeface="Vidaloka"/>
                  <a:ea typeface="Vidaloka"/>
                  <a:cs typeface="Vidaloka"/>
                  <a:sym typeface="Vidaloka"/>
                </a:rPr>
                <a:t>03</a:t>
              </a:r>
              <a:endParaRPr sz="35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endParaRPr>
            </a:p>
          </p:txBody>
        </p:sp>
        <p:sp>
          <p:nvSpPr>
            <p:cNvPr id="508" name="Google Shape;508;p61"/>
            <p:cNvSpPr txBox="1"/>
            <p:nvPr/>
          </p:nvSpPr>
          <p:spPr>
            <a:xfrm>
              <a:off x="7078675" y="2700425"/>
              <a:ext cx="996300" cy="667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500">
                  <a:solidFill>
                    <a:schemeClr val="accent1"/>
                  </a:solidFill>
                  <a:latin typeface="Vidaloka"/>
                  <a:ea typeface="Vidaloka"/>
                  <a:cs typeface="Vidaloka"/>
                  <a:sym typeface="Vidaloka"/>
                </a:rPr>
                <a:t>04</a:t>
              </a:r>
              <a:endParaRPr sz="35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endParaRPr>
            </a:p>
          </p:txBody>
        </p:sp>
      </p:grpSp>
      <p:sp>
        <p:nvSpPr>
          <p:cNvPr id="509" name="Google Shape;509;p61"/>
          <p:cNvSpPr txBox="1"/>
          <p:nvPr/>
        </p:nvSpPr>
        <p:spPr>
          <a:xfrm>
            <a:off x="1623450" y="1528900"/>
            <a:ext cx="17229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rPr>
              <a:t>Implement</a:t>
            </a:r>
            <a:endParaRPr sz="2400">
              <a:solidFill>
                <a:schemeClr val="dk1"/>
              </a:solidFill>
              <a:latin typeface="Vidaloka"/>
              <a:ea typeface="Vidaloka"/>
              <a:cs typeface="Vidaloka"/>
              <a:sym typeface="Vidaloka"/>
            </a:endParaRPr>
          </a:p>
        </p:txBody>
      </p:sp>
      <p:sp>
        <p:nvSpPr>
          <p:cNvPr id="510" name="Google Shape;510;p61"/>
          <p:cNvSpPr txBox="1"/>
          <p:nvPr/>
        </p:nvSpPr>
        <p:spPr>
          <a:xfrm>
            <a:off x="5735850" y="1528900"/>
            <a:ext cx="19194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rPr>
              <a:t>Check error</a:t>
            </a:r>
            <a:endParaRPr sz="2400">
              <a:solidFill>
                <a:schemeClr val="dk1"/>
              </a:solidFill>
              <a:latin typeface="Vidaloka"/>
              <a:ea typeface="Vidaloka"/>
              <a:cs typeface="Vidaloka"/>
              <a:sym typeface="Vidaloka"/>
            </a:endParaRPr>
          </a:p>
        </p:txBody>
      </p:sp>
      <p:cxnSp>
        <p:nvCxnSpPr>
          <p:cNvPr id="511" name="Google Shape;511;p61"/>
          <p:cNvCxnSpPr/>
          <p:nvPr/>
        </p:nvCxnSpPr>
        <p:spPr>
          <a:xfrm>
            <a:off x="7099900" y="2981275"/>
            <a:ext cx="1014300" cy="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12" name="Google Shape;512;p61"/>
          <p:cNvSpPr txBox="1"/>
          <p:nvPr/>
        </p:nvSpPr>
        <p:spPr>
          <a:xfrm>
            <a:off x="6996950" y="2619625"/>
            <a:ext cx="3000000" cy="7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rPr>
              <a:t>05</a:t>
            </a:r>
            <a:endParaRPr/>
          </a:p>
        </p:txBody>
      </p:sp>
      <p:sp>
        <p:nvSpPr>
          <p:cNvPr id="513" name="Google Shape;513;p61"/>
          <p:cNvSpPr txBox="1"/>
          <p:nvPr/>
        </p:nvSpPr>
        <p:spPr>
          <a:xfrm>
            <a:off x="7503900" y="3863525"/>
            <a:ext cx="1722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4" name="Google Shape;514;p61"/>
          <p:cNvSpPr txBox="1"/>
          <p:nvPr/>
        </p:nvSpPr>
        <p:spPr>
          <a:xfrm>
            <a:off x="7700425" y="3509225"/>
            <a:ext cx="17229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rPr>
              <a:t>Finalize </a:t>
            </a:r>
            <a:endParaRPr sz="2400">
              <a:solidFill>
                <a:schemeClr val="dk1"/>
              </a:solidFill>
              <a:latin typeface="Vidaloka"/>
              <a:ea typeface="Vidaloka"/>
              <a:cs typeface="Vidaloka"/>
              <a:sym typeface="Vidalok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62"/>
          <p:cNvSpPr txBox="1">
            <a:spLocks noGrp="1"/>
          </p:cNvSpPr>
          <p:nvPr>
            <p:ph type="title"/>
          </p:nvPr>
        </p:nvSpPr>
        <p:spPr>
          <a:xfrm>
            <a:off x="505200" y="1888643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Problem</a:t>
            </a:r>
            <a:endParaRPr/>
          </a:p>
        </p:txBody>
      </p:sp>
      <p:sp>
        <p:nvSpPr>
          <p:cNvPr id="520" name="Google Shape;520;p62"/>
          <p:cNvSpPr txBox="1">
            <a:spLocks noGrp="1"/>
          </p:cNvSpPr>
          <p:nvPr>
            <p:ph type="title" idx="4"/>
          </p:nvPr>
        </p:nvSpPr>
        <p:spPr>
          <a:xfrm>
            <a:off x="4166400" y="1306750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521" name="Google Shape;521;p62"/>
          <p:cNvSpPr txBox="1">
            <a:spLocks noGrp="1"/>
          </p:cNvSpPr>
          <p:nvPr>
            <p:ph type="title" idx="13"/>
          </p:nvPr>
        </p:nvSpPr>
        <p:spPr>
          <a:xfrm>
            <a:off x="1267800" y="3095087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522" name="Google Shape;522;p62"/>
          <p:cNvSpPr txBox="1">
            <a:spLocks noGrp="1"/>
          </p:cNvSpPr>
          <p:nvPr>
            <p:ph type="title" idx="2"/>
          </p:nvPr>
        </p:nvSpPr>
        <p:spPr>
          <a:xfrm>
            <a:off x="1267800" y="1306750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523" name="Google Shape;523;p62"/>
          <p:cNvSpPr txBox="1">
            <a:spLocks noGrp="1"/>
          </p:cNvSpPr>
          <p:nvPr>
            <p:ph type="title" idx="3"/>
          </p:nvPr>
        </p:nvSpPr>
        <p:spPr>
          <a:xfrm>
            <a:off x="3666000" y="1888650"/>
            <a:ext cx="18120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Pseudocode</a:t>
            </a:r>
            <a:endParaRPr/>
          </a:p>
        </p:txBody>
      </p:sp>
      <p:sp>
        <p:nvSpPr>
          <p:cNvPr id="524" name="Google Shape;524;p62"/>
          <p:cNvSpPr txBox="1">
            <a:spLocks noGrp="1"/>
          </p:cNvSpPr>
          <p:nvPr>
            <p:ph type="title" idx="6"/>
          </p:nvPr>
        </p:nvSpPr>
        <p:spPr>
          <a:xfrm>
            <a:off x="6302400" y="1888643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Build trie</a:t>
            </a:r>
            <a:endParaRPr/>
          </a:p>
        </p:txBody>
      </p:sp>
      <p:sp>
        <p:nvSpPr>
          <p:cNvPr id="525" name="Google Shape;525;p62"/>
          <p:cNvSpPr txBox="1">
            <a:spLocks noGrp="1"/>
          </p:cNvSpPr>
          <p:nvPr>
            <p:ph type="title" idx="7"/>
          </p:nvPr>
        </p:nvSpPr>
        <p:spPr>
          <a:xfrm>
            <a:off x="7065000" y="1306750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526" name="Google Shape;526;p62"/>
          <p:cNvSpPr txBox="1">
            <a:spLocks noGrp="1"/>
          </p:cNvSpPr>
          <p:nvPr>
            <p:ph type="title" idx="9"/>
          </p:nvPr>
        </p:nvSpPr>
        <p:spPr>
          <a:xfrm>
            <a:off x="167925" y="3694575"/>
            <a:ext cx="2978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Preprocess n-gram</a:t>
            </a:r>
            <a:endParaRPr/>
          </a:p>
        </p:txBody>
      </p:sp>
      <p:sp>
        <p:nvSpPr>
          <p:cNvPr id="527" name="Google Shape;527;p62"/>
          <p:cNvSpPr txBox="1">
            <a:spLocks noGrp="1"/>
          </p:cNvSpPr>
          <p:nvPr>
            <p:ph type="title" idx="15"/>
          </p:nvPr>
        </p:nvSpPr>
        <p:spPr>
          <a:xfrm>
            <a:off x="3192350" y="3694575"/>
            <a:ext cx="2759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Matching stretary</a:t>
            </a:r>
            <a:endParaRPr/>
          </a:p>
        </p:txBody>
      </p:sp>
      <p:sp>
        <p:nvSpPr>
          <p:cNvPr id="528" name="Google Shape;528;p62"/>
          <p:cNvSpPr txBox="1">
            <a:spLocks noGrp="1"/>
          </p:cNvSpPr>
          <p:nvPr>
            <p:ph type="title" idx="16"/>
          </p:nvPr>
        </p:nvSpPr>
        <p:spPr>
          <a:xfrm>
            <a:off x="4166400" y="3095087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529" name="Google Shape;529;p62"/>
          <p:cNvSpPr txBox="1">
            <a:spLocks noGrp="1"/>
          </p:cNvSpPr>
          <p:nvPr>
            <p:ph type="title" idx="18"/>
          </p:nvPr>
        </p:nvSpPr>
        <p:spPr>
          <a:xfrm>
            <a:off x="6302400" y="3694579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</a:t>
            </a:r>
            <a:endParaRPr/>
          </a:p>
        </p:txBody>
      </p:sp>
      <p:sp>
        <p:nvSpPr>
          <p:cNvPr id="530" name="Google Shape;530;p62"/>
          <p:cNvSpPr txBox="1">
            <a:spLocks noGrp="1"/>
          </p:cNvSpPr>
          <p:nvPr>
            <p:ph type="title" idx="19"/>
          </p:nvPr>
        </p:nvSpPr>
        <p:spPr>
          <a:xfrm>
            <a:off x="7065000" y="3095087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531" name="Google Shape;531;p62"/>
          <p:cNvSpPr txBox="1">
            <a:spLocks noGrp="1"/>
          </p:cNvSpPr>
          <p:nvPr>
            <p:ph type="title" idx="21"/>
          </p:nvPr>
        </p:nvSpPr>
        <p:spPr>
          <a:xfrm>
            <a:off x="2332400" y="445025"/>
            <a:ext cx="4479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/>
                                        <p:tgtEl>
                                          <p:spTgt spid="5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/>
                                        <p:tgtEl>
                                          <p:spTgt spid="5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/>
                                        <p:tgtEl>
                                          <p:spTgt spid="5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/>
                                        <p:tgtEl>
                                          <p:spTgt spid="5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/>
                                        <p:tgtEl>
                                          <p:spTgt spid="5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0"/>
                                        <p:tgtEl>
                                          <p:spTgt spid="5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1000"/>
                                        <p:tgtEl>
                                          <p:spTgt spid="5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/>
                                        <p:tgtEl>
                                          <p:spTgt spid="5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000"/>
                                        <p:tgtEl>
                                          <p:spTgt spid="5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/>
                                        <p:tgtEl>
                                          <p:spTgt spid="5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1000"/>
                                        <p:tgtEl>
                                          <p:spTgt spid="5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1000"/>
                                        <p:tgtEl>
                                          <p:spTgt spid="5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63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4711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</a:t>
            </a:r>
            <a:endParaRPr/>
          </a:p>
        </p:txBody>
      </p:sp>
      <p:sp>
        <p:nvSpPr>
          <p:cNvPr id="537" name="Google Shape;537;p63"/>
          <p:cNvSpPr txBox="1">
            <a:spLocks noGrp="1"/>
          </p:cNvSpPr>
          <p:nvPr>
            <p:ph type="body" idx="1"/>
          </p:nvPr>
        </p:nvSpPr>
        <p:spPr>
          <a:xfrm>
            <a:off x="518625" y="1263650"/>
            <a:ext cx="4226400" cy="32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 b="1">
                <a:solidFill>
                  <a:schemeClr val="dk1"/>
                </a:solidFill>
              </a:rPr>
              <a:t>Define problem: </a:t>
            </a:r>
            <a:r>
              <a:rPr lang="en" sz="1600">
                <a:solidFill>
                  <a:schemeClr val="dk1"/>
                </a:solidFill>
              </a:rPr>
              <a:t>Extract province, district, ward from given address text</a:t>
            </a:r>
            <a:endParaRPr sz="1600" b="1"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 b="1">
                <a:solidFill>
                  <a:schemeClr val="dk1"/>
                </a:solidFill>
              </a:rPr>
              <a:t>Requirement:</a:t>
            </a:r>
            <a:endParaRPr sz="1600" b="1">
              <a:solidFill>
                <a:schemeClr val="dk1"/>
              </a:solidFill>
            </a:endParaRPr>
          </a:p>
          <a:p>
            <a:pPr marL="914400" lvl="1" indent="-3302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Estimated time for each address below ….</a:t>
            </a:r>
            <a:endParaRPr sz="1600">
              <a:solidFill>
                <a:schemeClr val="dk1"/>
              </a:solidFill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Average time for 1 request: ≤4/100 s</a:t>
            </a:r>
            <a:endParaRPr sz="1600">
              <a:solidFill>
                <a:schemeClr val="dk1"/>
              </a:solidFill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Do not apply a machine learning approach, just algorithms.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600">
              <a:solidFill>
                <a:schemeClr val="dk1"/>
              </a:solidFill>
            </a:endParaRPr>
          </a:p>
        </p:txBody>
      </p:sp>
      <p:pic>
        <p:nvPicPr>
          <p:cNvPr id="538" name="Google Shape;538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97425" y="923850"/>
            <a:ext cx="4094175" cy="3295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64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4711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Analysis</a:t>
            </a:r>
            <a:endParaRPr/>
          </a:p>
        </p:txBody>
      </p:sp>
      <p:graphicFrame>
        <p:nvGraphicFramePr>
          <p:cNvPr id="544" name="Google Shape;544;p64"/>
          <p:cNvGraphicFramePr/>
          <p:nvPr/>
        </p:nvGraphicFramePr>
        <p:xfrm>
          <a:off x="285225" y="1248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{AB83D48C-1958-4FCD-9EA3-2B004F657C73}</a:tableStyleId>
              </a:tblPr>
              <a:tblGrid>
                <a:gridCol w="4676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43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Description</a:t>
                      </a:r>
                      <a:endParaRPr sz="1300"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Example</a:t>
                      </a:r>
                      <a:endParaRPr sz="1300"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Address contains ward, district, province in order without spelling errors and optional prefix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CE9178"/>
                          </a:solidFill>
                          <a:highlight>
                            <a:srgbClr val="222222"/>
                          </a:highlight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TT Tân Bình Huyện Yên Sơn, Tuyên Quang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CE9178"/>
                          </a:solidFill>
                          <a:highlight>
                            <a:srgbClr val="222222"/>
                          </a:highlight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Thanh Long, Yên Mỹ Hưng Yên</a:t>
                      </a:r>
                      <a:endParaRPr sz="13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Address contains (w,d,p) in order with spelling errors in either location names or location prefix 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CE9178"/>
                          </a:solidFill>
                          <a:highlight>
                            <a:srgbClr val="222222"/>
                          </a:highlight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Tân Hòa,H. Phú Tân,TnhAn Giang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Address contains components other than ward, district, province.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>
                          <a:solidFill>
                            <a:srgbClr val="CE9178"/>
                          </a:solidFill>
                          <a:highlight>
                            <a:srgbClr val="222222"/>
                          </a:highlight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357/28,Ng-T- Thuật,P1,Q3,TP.HồChíMinh.</a:t>
                      </a:r>
                      <a:endParaRPr sz="1300">
                        <a:solidFill>
                          <a:srgbClr val="CE9178"/>
                        </a:solidFill>
                        <a:highlight>
                          <a:srgbClr val="222222"/>
                        </a:highlight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CE9178"/>
                          </a:solidFill>
                          <a:highlight>
                            <a:srgbClr val="222222"/>
                          </a:highlight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284DBis Ng Văn Giáo, P3, Mỹ Tho, T.Giang.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Address misses components in ward, district, province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>
                          <a:solidFill>
                            <a:srgbClr val="CE9178"/>
                          </a:solidFill>
                          <a:highlight>
                            <a:srgbClr val="222222"/>
                          </a:highlight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XDuy Hải  TQuảng Nam</a:t>
                      </a:r>
                      <a:endParaRPr sz="1300">
                        <a:solidFill>
                          <a:srgbClr val="CE9178"/>
                        </a:solidFill>
                        <a:highlight>
                          <a:srgbClr val="222222"/>
                        </a:highlight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CE9178"/>
                          </a:solidFill>
                          <a:highlight>
                            <a:srgbClr val="222222"/>
                          </a:highlight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,H.Tuy An,Tinh Phú yên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Address contains abbreviations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>
                          <a:solidFill>
                            <a:srgbClr val="CE9178"/>
                          </a:solidFill>
                          <a:highlight>
                            <a:srgbClr val="222222"/>
                          </a:highlight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F2B PhanVănTr P.5,GV,TP.Hồ Chí Minh</a:t>
                      </a:r>
                      <a:endParaRPr sz="1300">
                        <a:solidFill>
                          <a:srgbClr val="CE9178"/>
                        </a:solidFill>
                        <a:highlight>
                          <a:srgbClr val="222222"/>
                        </a:highlight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CE9178"/>
                          </a:solidFill>
                          <a:highlight>
                            <a:srgbClr val="222222"/>
                          </a:highlight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F.LoWng Binh, TpThủ Đưc, TPHCM</a:t>
                      </a:r>
                      <a:endParaRPr sz="1300">
                        <a:solidFill>
                          <a:srgbClr val="CE9178"/>
                        </a:solidFill>
                        <a:highlight>
                          <a:srgbClr val="222222"/>
                        </a:highlight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65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6960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Pseudocode</a:t>
            </a:r>
            <a:endParaRPr/>
          </a:p>
        </p:txBody>
      </p:sp>
      <p:pic>
        <p:nvPicPr>
          <p:cNvPr id="550" name="Google Shape;550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9175" y="1017725"/>
            <a:ext cx="5391352" cy="382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66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4711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 Trie</a:t>
            </a:r>
            <a:endParaRPr/>
          </a:p>
        </p:txBody>
      </p:sp>
      <p:sp>
        <p:nvSpPr>
          <p:cNvPr id="556" name="Google Shape;556;p66"/>
          <p:cNvSpPr txBox="1">
            <a:spLocks noGrp="1"/>
          </p:cNvSpPr>
          <p:nvPr>
            <p:ph type="body" idx="1"/>
          </p:nvPr>
        </p:nvSpPr>
        <p:spPr>
          <a:xfrm>
            <a:off x="713250" y="1126800"/>
            <a:ext cx="7717500" cy="344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</a:rPr>
              <a:t>For each location (ward, district, province), build 3 trie</a:t>
            </a:r>
            <a:endParaRPr sz="1600" b="1"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 b="1">
                <a:solidFill>
                  <a:schemeClr val="dk1"/>
                </a:solidFill>
              </a:rPr>
              <a:t>Correct spelling trie</a:t>
            </a:r>
            <a:r>
              <a:rPr lang="en" sz="1600">
                <a:solidFill>
                  <a:schemeClr val="dk1"/>
                </a:solidFill>
              </a:rPr>
              <a:t>: contains location prefix + normalized string of location. Numeric location such as ward 1, 2,.. must be combined with a prefix.</a:t>
            </a:r>
            <a:br>
              <a:rPr lang="en" sz="1600">
                <a:solidFill>
                  <a:schemeClr val="dk1"/>
                </a:solidFill>
              </a:rPr>
            </a:br>
            <a:r>
              <a:rPr lang="en" sz="1600">
                <a:solidFill>
                  <a:schemeClr val="dk1"/>
                </a:solidFill>
              </a:rPr>
              <a:t>Location prefix contains:</a:t>
            </a:r>
            <a:endParaRPr sz="1600">
              <a:solidFill>
                <a:schemeClr val="dk1"/>
              </a:solidFill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Full prefix: Huyen, ThanhPho,..</a:t>
            </a:r>
            <a:endParaRPr sz="1600">
              <a:solidFill>
                <a:schemeClr val="dk1"/>
              </a:solidFill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First letter abbreviation: H, TP, X, TT,..</a:t>
            </a:r>
            <a:endParaRPr sz="1600">
              <a:solidFill>
                <a:schemeClr val="dk1"/>
              </a:solidFill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First letter last word abbreviation: Tpho, Txa, Ttran,..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1200"/>
              </a:spcAft>
              <a:buNone/>
            </a:pP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67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4711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 Trie</a:t>
            </a:r>
            <a:endParaRPr/>
          </a:p>
        </p:txBody>
      </p:sp>
      <p:sp>
        <p:nvSpPr>
          <p:cNvPr id="562" name="Google Shape;562;p67"/>
          <p:cNvSpPr txBox="1">
            <a:spLocks noGrp="1"/>
          </p:cNvSpPr>
          <p:nvPr>
            <p:ph type="body" idx="1"/>
          </p:nvPr>
        </p:nvSpPr>
        <p:spPr>
          <a:xfrm>
            <a:off x="713250" y="1126800"/>
            <a:ext cx="7717500" cy="344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</a:rPr>
              <a:t>For each location (ward, district, province), build 3 trie</a:t>
            </a:r>
            <a:endParaRPr sz="1600" b="1"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 b="1">
                <a:solidFill>
                  <a:schemeClr val="dk1"/>
                </a:solidFill>
              </a:rPr>
              <a:t>Incorrect spelling trie</a:t>
            </a:r>
            <a:r>
              <a:rPr lang="en" sz="1600">
                <a:solidFill>
                  <a:schemeClr val="dk1"/>
                </a:solidFill>
              </a:rPr>
              <a:t>: From correct spelling trie, create incorrect version of each location. Given an alphabet set as </a:t>
            </a:r>
            <a:r>
              <a:rPr lang="en" sz="1050">
                <a:solidFill>
                  <a:srgbClr val="D4D4D4"/>
                </a:solidFill>
                <a:highlight>
                  <a:srgbClr val="1E1E1E"/>
                </a:highlight>
              </a:rPr>
              <a:t>ALPHABET = </a:t>
            </a:r>
            <a:r>
              <a:rPr lang="en" sz="1050">
                <a:solidFill>
                  <a:srgbClr val="CE9178"/>
                </a:solidFill>
                <a:highlight>
                  <a:srgbClr val="1E1E1E"/>
                </a:highlight>
              </a:rPr>
              <a:t>'abcdefghijklmnopqrstuvwxyz0123456789'</a:t>
            </a:r>
            <a:endParaRPr sz="1600">
              <a:solidFill>
                <a:schemeClr val="dk1"/>
              </a:solidFill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 b="1">
                <a:solidFill>
                  <a:schemeClr val="dk1"/>
                </a:solidFill>
              </a:rPr>
              <a:t>Substitute</a:t>
            </a:r>
            <a:r>
              <a:rPr lang="en" sz="1600">
                <a:solidFill>
                  <a:schemeClr val="dk1"/>
                </a:solidFill>
              </a:rPr>
              <a:t>: Each char in location word could be replace with different char in ALPHABET </a:t>
            </a:r>
            <a:br>
              <a:rPr lang="en" sz="1600">
                <a:solidFill>
                  <a:schemeClr val="dk1"/>
                </a:solidFill>
              </a:rPr>
            </a:br>
            <a:r>
              <a:rPr lang="en" sz="1600">
                <a:solidFill>
                  <a:schemeClr val="dk1"/>
                </a:solidFill>
              </a:rPr>
              <a:t>Eg: len(word) = n =&gt; </a:t>
            </a:r>
            <a:r>
              <a:rPr lang="en" sz="1600" b="1">
                <a:solidFill>
                  <a:schemeClr val="dk1"/>
                </a:solidFill>
              </a:rPr>
              <a:t>35*n variations</a:t>
            </a:r>
            <a:endParaRPr sz="1600" b="1">
              <a:solidFill>
                <a:schemeClr val="dk1"/>
              </a:solidFill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 b="1">
                <a:solidFill>
                  <a:schemeClr val="dk1"/>
                </a:solidFill>
              </a:rPr>
              <a:t>Deletion</a:t>
            </a:r>
            <a:r>
              <a:rPr lang="en" sz="1600">
                <a:solidFill>
                  <a:schemeClr val="dk1"/>
                </a:solidFill>
              </a:rPr>
              <a:t>: Delete each char in location </a:t>
            </a:r>
            <a:br>
              <a:rPr lang="en" sz="1600">
                <a:solidFill>
                  <a:schemeClr val="dk1"/>
                </a:solidFill>
              </a:rPr>
            </a:br>
            <a:r>
              <a:rPr lang="en" sz="1600">
                <a:solidFill>
                  <a:schemeClr val="dk1"/>
                </a:solidFill>
              </a:rPr>
              <a:t>Eg: len(word) = n -&gt; </a:t>
            </a:r>
            <a:r>
              <a:rPr lang="en" sz="1600" b="1">
                <a:solidFill>
                  <a:schemeClr val="dk1"/>
                </a:solidFill>
              </a:rPr>
              <a:t>n variations </a:t>
            </a:r>
            <a:endParaRPr sz="1600" b="1">
              <a:solidFill>
                <a:schemeClr val="dk1"/>
              </a:solidFill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 b="1">
                <a:solidFill>
                  <a:schemeClr val="dk1"/>
                </a:solidFill>
              </a:rPr>
              <a:t>Addition</a:t>
            </a:r>
            <a:r>
              <a:rPr lang="en" sz="1600">
                <a:solidFill>
                  <a:schemeClr val="dk1"/>
                </a:solidFill>
              </a:rPr>
              <a:t>: Add char in ALPHABET to every index of location word</a:t>
            </a:r>
            <a:br>
              <a:rPr lang="en" sz="1600">
                <a:solidFill>
                  <a:schemeClr val="dk1"/>
                </a:solidFill>
              </a:rPr>
            </a:br>
            <a:r>
              <a:rPr lang="en" sz="1600">
                <a:solidFill>
                  <a:schemeClr val="dk1"/>
                </a:solidFill>
              </a:rPr>
              <a:t>Eg: len(word) = n -&gt; </a:t>
            </a:r>
            <a:r>
              <a:rPr lang="en" sz="1600" b="1">
                <a:solidFill>
                  <a:schemeClr val="dk1"/>
                </a:solidFill>
              </a:rPr>
              <a:t>(n+1) * 36 variations </a:t>
            </a:r>
            <a:endParaRPr sz="1600" b="1"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Only allow for incorrect spelling if len(word) &gt;2 and &lt; 20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68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4711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 Trie</a:t>
            </a:r>
            <a:endParaRPr/>
          </a:p>
        </p:txBody>
      </p:sp>
      <p:sp>
        <p:nvSpPr>
          <p:cNvPr id="568" name="Google Shape;568;p68"/>
          <p:cNvSpPr txBox="1">
            <a:spLocks noGrp="1"/>
          </p:cNvSpPr>
          <p:nvPr>
            <p:ph type="body" idx="1"/>
          </p:nvPr>
        </p:nvSpPr>
        <p:spPr>
          <a:xfrm>
            <a:off x="713250" y="1126800"/>
            <a:ext cx="7717500" cy="344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</a:rPr>
              <a:t>For each location (ward, district, province), build 3 trie</a:t>
            </a:r>
            <a:endParaRPr sz="1600" b="1"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 b="1">
                <a:solidFill>
                  <a:schemeClr val="dk1"/>
                </a:solidFill>
              </a:rPr>
              <a:t>Abbreviation trie</a:t>
            </a:r>
            <a:r>
              <a:rPr lang="en" sz="1600">
                <a:solidFill>
                  <a:schemeClr val="dk1"/>
                </a:solidFill>
              </a:rPr>
              <a:t>: Allow for abbreviations in both name and prefix </a:t>
            </a:r>
            <a:endParaRPr sz="1600">
              <a:solidFill>
                <a:schemeClr val="dk1"/>
              </a:solidFill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First char abbreviation: HCM, HN,..</a:t>
            </a:r>
            <a:endParaRPr sz="1600">
              <a:solidFill>
                <a:schemeClr val="dk1"/>
              </a:solidFill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First char last word abbreviation: HCMinh, HNoi, …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6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4711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n-gram</a:t>
            </a:r>
            <a:endParaRPr/>
          </a:p>
        </p:txBody>
      </p:sp>
      <p:sp>
        <p:nvSpPr>
          <p:cNvPr id="574" name="Google Shape;574;p69"/>
          <p:cNvSpPr txBox="1">
            <a:spLocks noGrp="1"/>
          </p:cNvSpPr>
          <p:nvPr>
            <p:ph type="body" idx="1"/>
          </p:nvPr>
        </p:nvSpPr>
        <p:spPr>
          <a:xfrm>
            <a:off x="761975" y="1354075"/>
            <a:ext cx="3208800" cy="309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ontserrat"/>
              <a:buChar char="●"/>
            </a:pPr>
            <a:r>
              <a:rPr lang="en" sz="1500" b="1">
                <a:solidFill>
                  <a:schemeClr val="dk1"/>
                </a:solidFill>
              </a:rPr>
              <a:t>Based on database, the longest location word is 4-word long -&gt; maximum of 4-gram</a:t>
            </a:r>
            <a:endParaRPr sz="1500" b="1">
              <a:solidFill>
                <a:schemeClr val="dk1"/>
              </a:solidFill>
            </a:endParaRPr>
          </a:p>
          <a:p>
            <a:pPr marL="457200" lvl="0" indent="-3238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" sz="1500" b="1">
                <a:solidFill>
                  <a:schemeClr val="dk1"/>
                </a:solidFill>
              </a:rPr>
              <a:t>Longest matched substring will be found first.</a:t>
            </a:r>
            <a:endParaRPr sz="1500" b="1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None/>
            </a:pPr>
            <a:endParaRPr sz="1500">
              <a:solidFill>
                <a:schemeClr val="dk1"/>
              </a:solidFill>
            </a:endParaRPr>
          </a:p>
        </p:txBody>
      </p:sp>
      <p:pic>
        <p:nvPicPr>
          <p:cNvPr id="575" name="Google Shape;575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18300" y="661263"/>
            <a:ext cx="3462134" cy="38209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70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4711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Matching strategy</a:t>
            </a:r>
            <a:endParaRPr/>
          </a:p>
        </p:txBody>
      </p:sp>
      <p:pic>
        <p:nvPicPr>
          <p:cNvPr id="581" name="Google Shape;581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2300" y="1017725"/>
            <a:ext cx="6451078" cy="382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7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4711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</a:t>
            </a:r>
            <a:endParaRPr/>
          </a:p>
        </p:txBody>
      </p:sp>
      <p:pic>
        <p:nvPicPr>
          <p:cNvPr id="587" name="Google Shape;587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198" cy="1238134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71"/>
          <p:cNvSpPr txBox="1">
            <a:spLocks noGrp="1"/>
          </p:cNvSpPr>
          <p:nvPr>
            <p:ph type="body" idx="1"/>
          </p:nvPr>
        </p:nvSpPr>
        <p:spPr>
          <a:xfrm>
            <a:off x="713225" y="2560650"/>
            <a:ext cx="8120400" cy="18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</a:rPr>
              <a:t>Limitations:</a:t>
            </a:r>
            <a:endParaRPr sz="1300" b="1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Char char="-"/>
            </a:pPr>
            <a:r>
              <a:rPr lang="en" sz="1300">
                <a:solidFill>
                  <a:schemeClr val="dk1"/>
                </a:solidFill>
              </a:rPr>
              <a:t>Cannot find location with &gt;1 character spelling error</a:t>
            </a:r>
            <a:endParaRPr sz="1300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-"/>
            </a:pPr>
            <a:r>
              <a:rPr lang="en" sz="1300">
                <a:solidFill>
                  <a:schemeClr val="dk1"/>
                </a:solidFill>
              </a:rPr>
              <a:t>Cannot distinguish location with single char different </a:t>
            </a:r>
            <a:br>
              <a:rPr lang="en" sz="1300">
                <a:solidFill>
                  <a:schemeClr val="dk1"/>
                </a:solidFill>
              </a:rPr>
            </a:br>
            <a:r>
              <a:rPr lang="en" sz="1300">
                <a:solidFill>
                  <a:schemeClr val="dk1"/>
                </a:solidFill>
              </a:rPr>
              <a:t>Eg: XãV Ninh, Kiên Xương, -&gt; </a:t>
            </a:r>
            <a:r>
              <a:rPr lang="en" sz="1300">
                <a:solidFill>
                  <a:srgbClr val="000000"/>
                </a:solidFill>
              </a:rPr>
              <a:t>Vũ Ninh vs Võ Ninh</a:t>
            </a:r>
            <a:endParaRPr sz="1300">
              <a:solidFill>
                <a:srgbClr val="000000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-"/>
            </a:pPr>
            <a:r>
              <a:rPr lang="en" sz="1300">
                <a:solidFill>
                  <a:schemeClr val="dk1"/>
                </a:solidFill>
              </a:rPr>
              <a:t>Cannot distinguish words with different diatrics </a:t>
            </a:r>
            <a:br>
              <a:rPr lang="en" sz="1300">
                <a:solidFill>
                  <a:schemeClr val="dk1"/>
                </a:solidFill>
              </a:rPr>
            </a:br>
            <a:r>
              <a:rPr lang="en" sz="1300">
                <a:solidFill>
                  <a:schemeClr val="dk1"/>
                </a:solidFill>
              </a:rPr>
              <a:t>Eg: </a:t>
            </a:r>
            <a:r>
              <a:rPr lang="en" sz="1300">
                <a:solidFill>
                  <a:srgbClr val="000000"/>
                </a:solidFill>
              </a:rPr>
              <a:t>Thạnh Hóa vs Thanh </a:t>
            </a:r>
            <a:r>
              <a:rPr lang="en" sz="1300">
                <a:solidFill>
                  <a:schemeClr val="dk1"/>
                </a:solidFill>
              </a:rPr>
              <a:t> Hóa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72"/>
          <p:cNvSpPr txBox="1">
            <a:spLocks noGrp="1"/>
          </p:cNvSpPr>
          <p:nvPr>
            <p:ph type="title"/>
          </p:nvPr>
        </p:nvSpPr>
        <p:spPr>
          <a:xfrm>
            <a:off x="2410500" y="2259748"/>
            <a:ext cx="4323000" cy="62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 for listening!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nimalist Business Slides XL by Slidesgo">
  <a:themeElements>
    <a:clrScheme name="Simple Light">
      <a:dk1>
        <a:srgbClr val="000000"/>
      </a:dk1>
      <a:lt1>
        <a:srgbClr val="F5F2EE"/>
      </a:lt1>
      <a:dk2>
        <a:srgbClr val="000000"/>
      </a:dk2>
      <a:lt2>
        <a:srgbClr val="EEEEEE"/>
      </a:lt2>
      <a:accent1>
        <a:srgbClr val="3F3533"/>
      </a:accent1>
      <a:accent2>
        <a:srgbClr val="3F3533"/>
      </a:accent2>
      <a:accent3>
        <a:srgbClr val="3F3533"/>
      </a:accent3>
      <a:accent4>
        <a:srgbClr val="3F3533"/>
      </a:accent4>
      <a:accent5>
        <a:srgbClr val="3F3533"/>
      </a:accent5>
      <a:accent6>
        <a:srgbClr val="3F3533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697</Words>
  <Application>Microsoft Office PowerPoint</Application>
  <PresentationFormat>On-screen Show (16:9)</PresentationFormat>
  <Paragraphs>110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Vidaloka</vt:lpstr>
      <vt:lpstr>Arial</vt:lpstr>
      <vt:lpstr>Montserrat</vt:lpstr>
      <vt:lpstr>Lato</vt:lpstr>
      <vt:lpstr>Crimson Text</vt:lpstr>
      <vt:lpstr>Minimalist Business Slides XL by Slidesgo</vt:lpstr>
      <vt:lpstr>Advanced Algorithms  Assignment</vt:lpstr>
      <vt:lpstr>Member Contribution</vt:lpstr>
      <vt:lpstr>Timeline (week)</vt:lpstr>
      <vt:lpstr>Problem</vt:lpstr>
      <vt:lpstr>Problem</vt:lpstr>
      <vt:lpstr>Problem Analysis</vt:lpstr>
      <vt:lpstr>Pseudocode</vt:lpstr>
      <vt:lpstr>Build Trie</vt:lpstr>
      <vt:lpstr>Build Trie</vt:lpstr>
      <vt:lpstr>Build Trie</vt:lpstr>
      <vt:lpstr> n-gram</vt:lpstr>
      <vt:lpstr>Matching strategy</vt:lpstr>
      <vt:lpstr>Result</vt:lpstr>
      <vt:lpstr>Thank you for listening!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ES DEV 045</cp:lastModifiedBy>
  <cp:revision>1</cp:revision>
  <dcterms:modified xsi:type="dcterms:W3CDTF">2024-11-14T11:18:36Z</dcterms:modified>
</cp:coreProperties>
</file>